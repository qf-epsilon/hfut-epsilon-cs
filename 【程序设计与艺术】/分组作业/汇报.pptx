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CC3300"/>
    <a:srgbClr val="66FF66"/>
    <a:srgbClr val="CC9900"/>
    <a:srgbClr val="FF9900"/>
    <a:srgbClr val="CC66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5" autoAdjust="0"/>
    <p:restoredTop sz="94660"/>
  </p:normalViewPr>
  <p:slideViewPr>
    <p:cSldViewPr showGuides="1">
      <p:cViewPr varScale="1">
        <p:scale>
          <a:sx n="97" d="100"/>
          <a:sy n="97" d="100"/>
        </p:scale>
        <p:origin x="424" y="68"/>
      </p:cViewPr>
      <p:guideLst>
        <p:guide orient="horz" pos="212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handoutMaster" Target="handoutMasters/handoutMaster1.xml"/><Relationship Id="rId65" Type="http://schemas.openxmlformats.org/officeDocument/2006/relationships/notesMaster" Target="notesMasters/notesMaster1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4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81C510C-00E5-4D63-983F-BA89A59544EE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5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6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060D0B3-A74E-46BB-93C3-4C28E9827483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69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4867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7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AutoShape 7"/>
          <p:cNvSpPr/>
          <p:nvPr/>
        </p:nvSpPr>
        <p:spPr>
          <a:xfrm>
            <a:off x="684213" y="2708275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486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196975"/>
            <a:ext cx="7772400" cy="1371600"/>
          </a:xfrm>
        </p:spPr>
        <p:txBody>
          <a:bodyPr/>
          <a:lstStyle>
            <a:lvl1pPr>
              <a:defRPr sz="33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6375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4862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42D7193-4055-42E2-9F20-93492DA00CD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2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</a:blip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58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59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8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3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</a:blip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4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5" name="内容占位符 3"/>
          <p:cNvSpPr>
            <a:spLocks noGrp="1"/>
          </p:cNvSpPr>
          <p:nvPr>
            <p:ph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</a:blipFill>
        <a:effectLst/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1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2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4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5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</a:blip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</a:blip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63938" y="6310313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</a:blip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64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5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6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</a:blipFill>
        <a:effectLst/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4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48635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36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</a:blip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1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</a:blip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竖排标题 1"/>
          <p:cNvSpPr>
            <a:spLocks noGrp="1"/>
          </p:cNvSpPr>
          <p:nvPr>
            <p:ph type="title" orient="vert"/>
          </p:nvPr>
        </p:nvSpPr>
        <p:spPr>
          <a:xfrm>
            <a:off x="6711950" y="304800"/>
            <a:ext cx="2051050" cy="5807075"/>
          </a:xfrm>
        </p:spPr>
        <p:txBody>
          <a:bodyPr vert="eaVert"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3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5625" y="304800"/>
            <a:ext cx="6003925" cy="5807075"/>
          </a:xfrm>
        </p:spPr>
        <p:txBody>
          <a:bodyPr vert="eaVer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32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bg>
      <p:bgPr>
        <a:blipFill rotWithShape="0">
          <a:blip r:embed="rId2"/>
        </a:blip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47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8" name="文本占位符 3"/>
          <p:cNvSpPr>
            <a:spLocks noGrp="1"/>
          </p:cNvSpPr>
          <p:nvPr>
            <p:ph type="body"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4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</a:blip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28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555625" y="1844675"/>
            <a:ext cx="8207375" cy="4267200"/>
          </a:xfrm>
        </p:spPr>
        <p:txBody>
          <a:bodyPr vert="horz" wrap="square" lIns="91440" tIns="45720" rIns="91440" bIns="45720" numCol="1" anchor="t" anchorCtr="0" compatLnSpc="1"/>
          <a:p>
            <a:pPr marL="469900" marR="0" lvl="0" indent="-469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rPr>
              <a:t>单击图标添加表格</a:t>
            </a: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04862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blipFill rotWithShape="0">
          <a:blip r:embed="rId2"/>
        </a:blipFill>
        <a:effectLst/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1216025"/>
          </a:xfr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8658" name="内容占位符 2"/>
          <p:cNvSpPr>
            <a:spLocks noGrp="1"/>
          </p:cNvSpPr>
          <p:nvPr>
            <p:ph sz="quarter" idx="1"/>
          </p:nvPr>
        </p:nvSpPr>
        <p:spPr>
          <a:xfrm>
            <a:off x="555625" y="1844675"/>
            <a:ext cx="4027488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59" name="内容占位符 3"/>
          <p:cNvSpPr>
            <a:spLocks noGrp="1"/>
          </p:cNvSpPr>
          <p:nvPr>
            <p:ph sz="quarter" idx="2"/>
          </p:nvPr>
        </p:nvSpPr>
        <p:spPr>
          <a:xfrm>
            <a:off x="4735513" y="1844675"/>
            <a:ext cx="4027487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0" name="内容占位符 4"/>
          <p:cNvSpPr>
            <a:spLocks noGrp="1"/>
          </p:cNvSpPr>
          <p:nvPr>
            <p:ph sz="quarter" idx="3"/>
          </p:nvPr>
        </p:nvSpPr>
        <p:spPr>
          <a:xfrm>
            <a:off x="555625" y="4054475"/>
            <a:ext cx="4027488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1" name="内容占位符 5"/>
          <p:cNvSpPr>
            <a:spLocks noGrp="1"/>
          </p:cNvSpPr>
          <p:nvPr>
            <p:ph sz="quarter" idx="4"/>
          </p:nvPr>
        </p:nvSpPr>
        <p:spPr>
          <a:xfrm>
            <a:off x="4735513" y="4054475"/>
            <a:ext cx="4027487" cy="2057400"/>
          </a:xfrm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</a:blip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2"/>
          <p:cNvSpPr>
            <a:spLocks noGrp="1"/>
          </p:cNvSpPr>
          <p:nvPr>
            <p:ph type="title"/>
          </p:nvPr>
        </p:nvSpPr>
        <p:spPr>
          <a:xfrm>
            <a:off x="3124200" y="233363"/>
            <a:ext cx="5622925" cy="7477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577" name="Rectangle 3"/>
          <p:cNvSpPr>
            <a:spLocks noGrp="1"/>
          </p:cNvSpPr>
          <p:nvPr>
            <p:ph type="body" idx="1"/>
          </p:nvPr>
        </p:nvSpPr>
        <p:spPr>
          <a:xfrm>
            <a:off x="539750" y="1341438"/>
            <a:ext cx="8207375" cy="4770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a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78" name="AutoShape 4"/>
          <p:cNvSpPr/>
          <p:nvPr/>
        </p:nvSpPr>
        <p:spPr>
          <a:xfrm>
            <a:off x="539750" y="1087438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4857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4858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81" name="日期占位符 3"/>
          <p:cNvSpPr txBox="1">
            <a:spLocks noGrp="1"/>
          </p:cNvSpPr>
          <p:nvPr/>
        </p:nvSpPr>
        <p:spPr bwMode="auto">
          <a:xfrm>
            <a:off x="611188" y="6396038"/>
            <a:ext cx="1370013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18A38A3-6652-425B-8BA4-9098B4BAE49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52" name="图片 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79388" y="238125"/>
            <a:ext cx="2705100" cy="50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53" name="图片 11" descr="logo.png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08850" y="6242050"/>
            <a:ext cx="1312863" cy="4762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Rectangle 2"/>
          <p:cNvSpPr>
            <a:spLocks noGrp="1"/>
          </p:cNvSpPr>
          <p:nvPr>
            <p:ph type="title" idx="4294967295"/>
          </p:nvPr>
        </p:nvSpPr>
        <p:spPr>
          <a:xfrm>
            <a:off x="4356100" y="3140710"/>
            <a:ext cx="4413885" cy="63881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2800" dirty="0"/>
              <a:t>——</a:t>
            </a:r>
            <a:r>
              <a:rPr lang="zh-CN" altLang="en-US" sz="2800" dirty="0"/>
              <a:t>程序设计艺术与方法</a:t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1048584" name="Text Box 6"/>
          <p:cNvSpPr txBox="1"/>
          <p:nvPr/>
        </p:nvSpPr>
        <p:spPr>
          <a:xfrm>
            <a:off x="1835150" y="0"/>
            <a:ext cx="7308850" cy="13868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048585" name="Text Box 7"/>
          <p:cNvSpPr txBox="1"/>
          <p:nvPr/>
        </p:nvSpPr>
        <p:spPr>
          <a:xfrm>
            <a:off x="467678" y="1412558"/>
            <a:ext cx="7848600" cy="14249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81280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en-US" altLang="zh-CN" sz="5400" b="1" dirty="0">
                <a:latin typeface="Times New Roman" panose="02020603050405020304" pitchFamily="18" charset="0"/>
              </a:rPr>
              <a:t>2026</a:t>
            </a:r>
            <a:r>
              <a:rPr lang="zh-CN" altLang="en-US" sz="5400" b="1" dirty="0">
                <a:latin typeface="Times New Roman" panose="02020603050405020304" pitchFamily="18" charset="0"/>
              </a:rPr>
              <a:t>年课程大作业汇报</a:t>
            </a:r>
            <a:endParaRPr lang="zh-CN" altLang="en-US" sz="5400" b="1" dirty="0">
              <a:latin typeface="Times New Roman" panose="02020603050405020304" pitchFamily="18" charset="0"/>
            </a:endParaRPr>
          </a:p>
        </p:txBody>
      </p:sp>
      <p:sp>
        <p:nvSpPr>
          <p:cNvPr id="1048586" name="Rectangle 2"/>
          <p:cNvSpPr/>
          <p:nvPr/>
        </p:nvSpPr>
        <p:spPr>
          <a:xfrm>
            <a:off x="1043940" y="3573145"/>
            <a:ext cx="4895850" cy="141795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组长：步凡（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2025218878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b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组员：方馨（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2025218861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zh-CN" altLang="en-US" sz="2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郭邵祯（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2025218865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en-US" altLang="zh-CN" sz="2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袁之林（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2025218850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endParaRPr lang="en-US" altLang="zh-CN" sz="2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048587" name="文本框 1"/>
          <p:cNvSpPr txBox="1"/>
          <p:nvPr/>
        </p:nvSpPr>
        <p:spPr>
          <a:xfrm>
            <a:off x="3065145" y="5517515"/>
            <a:ext cx="2654300" cy="817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汇报日期：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2026-6-26</a:t>
            </a:r>
            <a:endParaRPr lang="en-US" altLang="zh-CN" sz="20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组员分工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graphicFrame>
        <p:nvGraphicFramePr>
          <p:cNvPr id="4194304" name="表格 3"/>
          <p:cNvGraphicFramePr/>
          <p:nvPr/>
        </p:nvGraphicFramePr>
        <p:xfrm>
          <a:off x="1371600" y="2667000"/>
          <a:ext cx="6399530" cy="19050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姓名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分工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步凡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汇报与</a:t>
                      </a:r>
                      <a:r>
                        <a:rPr lang="zh-CN" altLang="en-US"/>
                        <a:t>解</a:t>
                      </a:r>
                      <a:r>
                        <a:rPr lang="zh-CN" altLang="en-US"/>
                        <a:t>题报告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郭劭祯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代码编译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袁之林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代码编译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方馨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ppt</a:t>
                      </a:r>
                      <a:r>
                        <a:rPr lang="zh-CN" altLang="en-US"/>
                        <a:t>与代码编译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题目A.间距调整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pPr marL="0" indent="0">
              <a:buNone/>
            </a:pPr>
            <a:r>
              <a:rPr sz="1600"/>
              <a:t>第一，题意理解上的难点。题目要求从数字1出发，通过三种操作（+1、*2、-1）走到数字n，求最少步数和字典序最小的操作序列。需要理解BFS求最短路径的思想。</a:t>
            </a:r>
            <a:endParaRPr sz="1600"/>
          </a:p>
          <a:p>
            <a:pPr marL="0" indent="0">
              <a:buNone/>
            </a:pPr>
            <a:r>
              <a:rPr sz="1600"/>
              <a:t>第二，也是最关键的难点，在于发现需要反向BFS。正向从1到n搜索空间太大，需要反向从n到1搜索，操作也要反向（+1变-1，*2变/2，-1变+1）。</a:t>
            </a:r>
            <a:endParaRPr sz="1600"/>
          </a:p>
          <a:p>
            <a:pPr marL="0" indent="0">
              <a:buNone/>
            </a:pPr>
            <a:r>
              <a:rPr sz="1600"/>
              <a:t>第三，字典序最小的保证。BFS按A、B、C顺序扩展，保证第一次到达1时路径字典序最小。需要记录前驱和操作，从1回溯到n拼出路径。</a:t>
            </a:r>
            <a:endParaRPr sz="1600"/>
          </a:p>
          <a:p>
            <a:pPr marL="0" indent="0">
              <a:buNone/>
            </a:pPr>
            <a:r>
              <a:rPr sz="1600"/>
              <a:t>第四，边界处理和数组大小。n=1时不需要任何操作，要特判；数组要开大到2000005防止越界。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pPr marL="0" indent="0">
              <a:buNone/>
            </a:pPr>
            <a:r>
              <a:rPr sz="1600"/>
              <a:t>第一步：理解问题本质——从1到n的最短路径，操作有+1、*2、-1三种。</a:t>
            </a:r>
            <a:endParaRPr sz="1600"/>
          </a:p>
          <a:p>
            <a:pPr marL="0" indent="0">
              <a:buNone/>
            </a:pPr>
            <a:r>
              <a:rPr sz="1600"/>
              <a:t>第二步：反向BFS——从n开始反向搜索到1，反向操作为-1、/2（偶数才能）、+1。按A、B、C顺序扩展保证字典序最小。</a:t>
            </a:r>
            <a:endParaRPr sz="1600"/>
          </a:p>
          <a:p>
            <a:pPr marL="0" indent="0">
              <a:buNone/>
            </a:pPr>
            <a:r>
              <a:rPr sz="1600"/>
              <a:t>第三步：BFS保证最短——第一次到达1时步数最少。</a:t>
            </a:r>
            <a:endParaRPr sz="1600"/>
          </a:p>
          <a:p>
            <a:pPr marL="0" indent="0">
              <a:buNone/>
            </a:pPr>
            <a:r>
              <a:rPr sz="1600"/>
              <a:t>第四步：路径还原——记录前驱和操作，从1回溯到n拼出操作序列。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72285"/>
            <a:ext cx="5780405" cy="441706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时间复杂度方面，程序的主要开销在BFS遍历上。每个节点最多入队一次，每次处理O(1)的邻接操作，所以总时间复杂度是O(n)。</a:t>
            </a:r>
            <a:endParaRPr sz="1600"/>
          </a:p>
          <a:p>
            <a:r>
              <a:rPr sz="1600"/>
              <a:t>空间复杂度方面，程序使用了queue、pre数组、op数组、vis数组，都是O(n)规模，所以总空间复杂度是O(n)。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使用queue&lt;int&gt;来实现BFS队列。队列存储待访问的节点编号，先进先出保证BFS的层次遍历顺序。</a:t>
            </a:r>
            <a:endParaRPr sz="1600"/>
          </a:p>
          <a:p>
            <a:r>
              <a:rPr sz="1600"/>
              <a:t>使用string来拼接操作序列路径。从1回溯到n的过程中，把操作字符拼接到字符串中。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输入：10</a:t>
            </a:r>
            <a:endParaRPr sz="1600"/>
          </a:p>
          <a:p>
            <a:r>
              <a:rPr sz="1600"/>
              <a:t>输出：4  ABAB</a:t>
            </a:r>
            <a:endParaRPr sz="1600"/>
          </a:p>
          <a:p>
            <a:r>
              <a:rPr sz="1600"/>
              <a:t>解释：从1出发：1-&gt;(+1)-&gt;2-&gt;(*2)-&gt;4-&gt;(+1)-&gt;5-&gt;(*2)-&gt;10，共4步，操作序列ABAB字典序最小。</a:t>
            </a: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endParaRPr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3284855"/>
            <a:ext cx="5577840" cy="13792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4869180"/>
            <a:ext cx="3832860" cy="109728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题目B.缓存技术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第一，LRU淘汰策略的理解。缓存满时要淘汰最久没使用的，需要维护使用顺序，前面是最近使用的，后面是最久没使用的。</a:t>
            </a:r>
            <a:endParaRPr sz="1600"/>
          </a:p>
          <a:p>
            <a:r>
              <a:rPr sz="1600"/>
              <a:t>第二，脏数据处理机制。被WRITE修改过的数据是脏数据，淘汰时要先写回主存，保证主存数据一致性。</a:t>
            </a:r>
            <a:endParaRPr sz="1600"/>
          </a:p>
          <a:p>
            <a:r>
              <a:rPr sz="1600"/>
              <a:t>第三，读写操作的区分。READ命中直接读，未命中从主存加载；WRITE命中直接改，未命中要写分配。</a:t>
            </a:r>
            <a:endParaRPr sz="1600"/>
          </a:p>
          <a:p>
            <a:r>
              <a:rPr sz="1600"/>
              <a:t>第四，缓存状态输出格式。最后要按MRU到LRU顺序输出缓存内容，需要遍历list。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第一步：用list维护LRU顺序——前面是最近使用的，后面是最久没使用的。</a:t>
            </a:r>
            <a:endParaRPr sz="1600"/>
          </a:p>
          <a:p>
            <a:r>
              <a:rPr sz="1600"/>
              <a:t>第二步：用map记录缓存内容——key到CacheEntry的映射，包含key、value、dirty标志。</a:t>
            </a:r>
            <a:endParaRPr sz="1600"/>
          </a:p>
          <a:p>
            <a:r>
              <a:rPr sz="1600"/>
              <a:t>第三步：READ操作——命中则移到list前面，未命中则加载并淘汰LRU。</a:t>
            </a:r>
            <a:endParaRPr sz="1600"/>
          </a:p>
          <a:p>
            <a:r>
              <a:rPr sz="1600"/>
              <a:t>第四步：WRITE操作——命中则修改并标记dirty，未命中则写分配。</a:t>
            </a:r>
            <a:endParaRPr sz="1600"/>
          </a:p>
          <a:p>
            <a:r>
              <a:rPr sz="1600"/>
              <a:t>第五步：最后遍历list输出缓存状态。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1864995"/>
            <a:ext cx="6749415" cy="423799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时间复杂度方面，每个操作需要遍历list查找，最坏O(C)，共n个操作，总时间复杂度O(n*C)。</a:t>
            </a:r>
            <a:endParaRPr sz="1600"/>
          </a:p>
          <a:p>
            <a:r>
              <a:rPr sz="1600"/>
              <a:t>空间复杂度方面，list和map最多存储C个条目，所以空间复杂度是O(C)。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使用list&lt;int&gt;维护LRU顺序，前面MRU后面LRU，push_front和pop_back实现淘汰。</a:t>
            </a:r>
            <a:endParaRPr sz="1600"/>
          </a:p>
          <a:p>
            <a:r>
              <a:rPr sz="1600"/>
              <a:t>使用map&lt;int, CacheEntry&gt;记录缓存内容，key到条目的映射。</a:t>
            </a:r>
            <a:endParaRPr sz="1600"/>
          </a:p>
          <a:p>
            <a:r>
              <a:rPr sz="1600"/>
              <a:t>使用stringstream按分号分割操作序列。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输入：2  READ 1;WRITE 1 10;READ 1;READ 2</a:t>
            </a:r>
            <a:endParaRPr sz="1600"/>
          </a:p>
          <a:p>
            <a:r>
              <a:rPr sz="1600"/>
              <a:t>输出：READ 1:Miss,loaded,value=1  WRITE 1 10:Hit,updated  READ 1:Hit,value=10  READ 2:Miss,loaded,value=2</a:t>
            </a:r>
            <a:endParaRPr sz="1600"/>
          </a:p>
          <a:p>
            <a:r>
              <a:rPr sz="1600"/>
              <a:t>Cache state(MRU-&gt;LRU): 2:2  1:10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3572510"/>
            <a:ext cx="3794760" cy="197358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题目C.平滑信号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第一，题意理解上的难点。题目定义了绝对平滑——要求对从1到k的所有窗口大小w，滑动均值滤波后的序列B(w)都必须是常数序列。</a:t>
            </a:r>
            <a:endParaRPr sz="1600"/>
          </a:p>
          <a:p>
            <a:r>
              <a:rPr sz="1600"/>
              <a:t>第二，也是最关键的难点，在于发现w=1这个特殊条件。当窗口大小w=1时，B(1)就是原序列A本身。所以B(1)是常数序列意味着A中所有元素必须相等。</a:t>
            </a:r>
            <a:endParaRPr sz="1600"/>
          </a:p>
          <a:p>
            <a:r>
              <a:rPr sz="1600"/>
              <a:t>第三，等价转化的论证。只要所有元素相等，任何窗口的均值也都相等。因此问题转化为：把所有元素改成同一个值，最少改几个。</a:t>
            </a:r>
            <a:endParaRPr sz="1600"/>
          </a:p>
          <a:p>
            <a:r>
              <a:rPr sz="1600"/>
              <a:t>第四，最优策略的发现。改成出现次数最多的值（众数），修改次数=n-众数出现次数。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第一步：理解平滑的等价条件——w=1包含在[1,k]中，所以A本身必须是常数序列。</a:t>
            </a:r>
            <a:endParaRPr sz="1600"/>
          </a:p>
          <a:p>
            <a:r>
              <a:rPr sz="1600"/>
              <a:t>第二步：问题转化——把所有元素改成同一个值，最少改几个。</a:t>
            </a:r>
            <a:endParaRPr sz="1600"/>
          </a:p>
          <a:p>
            <a:r>
              <a:rPr sz="1600"/>
              <a:t>第三步：统计每个值的出现次数，找出出现次数最多的（众数）。</a:t>
            </a:r>
            <a:endParaRPr sz="1600"/>
          </a:p>
          <a:p>
            <a:r>
              <a:rPr sz="1600"/>
              <a:t>第四步：答案 = n - 众数出现次数。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4371975" y="1596390"/>
            <a:ext cx="304800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070" y="1823720"/>
            <a:ext cx="6336030" cy="4394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时间复杂度方面，程序遍历数组一次统计频率O(n)，遍历map找最大频率O(n log n)，总时间复杂度O(n log n)。</a:t>
            </a:r>
            <a:endParaRPr sz="1600"/>
          </a:p>
          <a:p>
            <a:r>
              <a:rPr sz="1600"/>
              <a:t>空间复杂度方面，map最多存储n个不同的键值对，所以空间复杂度是O(n)。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使用map&lt;int, int&gt;来统计每个值的出现频率。第一个int是元素的值作为键，第二个int是出现次数作为值。</a:t>
            </a:r>
            <a:endParaRPr sz="1600"/>
          </a:p>
          <a:p>
            <a:r>
              <a:rPr sz="1600"/>
              <a:t>使用auto&amp; p来遍历map的键值对，p.first访问键、p.second访问值。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输入：5 3  1 2 2 2 3</a:t>
            </a:r>
            <a:endParaRPr sz="1600"/>
          </a:p>
          <a:p>
            <a:r>
              <a:rPr sz="1600"/>
              <a:t>输出：2</a:t>
            </a:r>
            <a:endParaRPr sz="1600"/>
          </a:p>
          <a:p>
            <a:r>
              <a:rPr sz="1600"/>
              <a:t>解释：n=5,k=3。2出现3次最多，把1和3改成2，共改2个。</a:t>
            </a:r>
            <a:endParaRPr sz="1600"/>
          </a:p>
          <a:p>
            <a:endParaRPr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3212465"/>
            <a:ext cx="7077075" cy="173037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题目D.能源划分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第一，题意理解上的难点。题目要求把n个数的数组分成恰好m个连续段，波动风险值=段长度*(段内最大值-段内最小值)，总风险值=所有段风险值的最大值，要求最小化总风险值。</a:t>
            </a:r>
            <a:endParaRPr sz="1600"/>
          </a:p>
          <a:p>
            <a:r>
              <a:rPr sz="1600"/>
              <a:t>第二，也是最关键的难点，在于发现这是二分答案问题。题目要求最小化最大值，这是典型的二分答案场景。</a:t>
            </a:r>
            <a:endParaRPr sz="1600"/>
          </a:p>
          <a:p>
            <a:r>
              <a:rPr sz="1600"/>
              <a:t>第三，贪心验证策略的设计。给定上限limit后，从前往后遍历，每段尽量往右扩展，直到加入下一个元素会导致风险值超过limit。</a:t>
            </a:r>
            <a:endParaRPr sz="1600"/>
          </a:p>
          <a:p>
            <a:r>
              <a:rPr sz="1600"/>
              <a:t>第四，二分上下界的确定和边界处理。下界low=0，上界high=n*10^9。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第一步：理解问题本质——把数组分成恰好m个连续段，最小化最大段风险值。</a:t>
            </a:r>
            <a:endParaRPr sz="1600"/>
          </a:p>
          <a:p>
            <a:r>
              <a:rPr sz="1600"/>
              <a:t>第二步：二分答案——二分最大风险值的上限limit。</a:t>
            </a:r>
            <a:endParaRPr sz="1600"/>
          </a:p>
          <a:p>
            <a:r>
              <a:rPr sz="1600"/>
              <a:t>第三步：贪心验证check(limit)——从前往后遍历，每段尽量往右扩展。</a:t>
            </a:r>
            <a:endParaRPr sz="1600"/>
          </a:p>
          <a:p>
            <a:r>
              <a:rPr sz="1600"/>
              <a:t>第四步：统计段数——如果段数&lt;=m，说明limit可行，high=mid；否则low=mid+1。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880870"/>
            <a:ext cx="6247130" cy="429514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时间复杂度方面，二分共log(n*10^9)次，每次check是O(n)，总时间复杂度O(n log(n*10^9))。</a:t>
            </a:r>
            <a:endParaRPr sz="1600"/>
          </a:p>
          <a:p>
            <a:r>
              <a:rPr sz="1600"/>
              <a:t>空间复杂度方面，只用了数组存储n个元素，空间复杂度O(n)。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使用min/max函数维护当前段的minVal和maxVal。</a:t>
            </a:r>
            <a:endParaRPr sz="1600"/>
          </a:p>
          <a:p>
            <a:r>
              <a:rPr sz="1600"/>
              <a:t>使用long long类型防止风险值溢出。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输入：5 2  1 3 5 2 4</a:t>
            </a:r>
            <a:endParaRPr sz="1600"/>
          </a:p>
          <a:p>
            <a:r>
              <a:rPr sz="1600"/>
              <a:t>输出：9</a:t>
            </a:r>
            <a:endParaRPr sz="1600"/>
          </a:p>
          <a:p>
            <a:r>
              <a:rPr sz="1600"/>
              <a:t>解释：分成[1,3]和[5,2,4]两段，风险值分别是4和9，最大是9。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3212465"/>
            <a:ext cx="5777865" cy="16421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题目E.智能调度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第一，操作本质的理解。两种操作（选两个各+1，或选一个+2）每次总电量都增加2，这是关键性质。</a:t>
            </a:r>
            <a:endParaRPr sz="1600"/>
          </a:p>
          <a:p>
            <a:r>
              <a:rPr sz="1600"/>
              <a:t>第二，目标约束的发现。target必须&gt;=最大值，且3*target-sum必须是偶数，每个电池的增量不能超过总操作次数的2倍。</a:t>
            </a:r>
            <a:endParaRPr sz="1600"/>
          </a:p>
          <a:p>
            <a:r>
              <a:rPr sz="1600"/>
              <a:t>第三，数学推导思维。不是模拟，而是直接计算满足所有约束的最小target。</a:t>
            </a:r>
            <a:endParaRPr sz="1600"/>
          </a:p>
          <a:p>
            <a:r>
              <a:rPr sz="1600"/>
              <a:t>第四，增量约束的处理。每个电池增量&lt;=2*操作次数，不满足则调整target。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第一步：关键性质——每次操作总电量+2，设目标为target，操作次数=(3*target-sum)/2。</a:t>
            </a:r>
            <a:endParaRPr sz="1600"/>
          </a:p>
          <a:p>
            <a:r>
              <a:rPr sz="1600"/>
              <a:t>第二步：约束一——target&gt;=max(a,b,c)。</a:t>
            </a:r>
            <a:endParaRPr sz="1600"/>
          </a:p>
          <a:p>
            <a:r>
              <a:rPr sz="1600"/>
              <a:t>第三步：约束二——3*target-sum必须是偶数，不满足则target++。</a:t>
            </a:r>
            <a:endParaRPr sz="1600"/>
          </a:p>
          <a:p>
            <a:r>
              <a:rPr sz="1600"/>
              <a:t>第四步：约束三——每个电池增量&lt;=2*操作次数，不满足则调整target。</a:t>
            </a:r>
            <a:endParaRPr sz="1600"/>
          </a:p>
          <a:p>
            <a:r>
              <a:rPr sz="1600"/>
              <a:t>第五步：计算答案=(3*target-sum)/2。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1849120"/>
            <a:ext cx="6671945" cy="43688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时间复杂度方面，程序只做了排序、while循环调整target和公式计算，都是常数级，总时间复杂度O(1)。</a:t>
            </a:r>
            <a:endParaRPr sz="1600"/>
          </a:p>
          <a:p>
            <a:r>
              <a:rPr sz="1600"/>
              <a:t>空间复杂度方面，只用了3个变量和几个临时变量，空间复杂度O(1)。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使用sort函数对三个电池排序，方便取最大值。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输入：1 2 3</a:t>
            </a:r>
            <a:endParaRPr sz="1600"/>
          </a:p>
          <a:p>
            <a:r>
              <a:rPr sz="1600"/>
              <a:t>输出：3</a:t>
            </a:r>
            <a:endParaRPr sz="1600"/>
          </a:p>
          <a:p>
            <a:r>
              <a:rPr sz="1600"/>
              <a:t>解释：排序后[1,2,3]，target=3，增量和=2+1+0=3，不满足偶数，target=4，增量和=3+2+1=6，6/2=3次。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3500755"/>
            <a:ext cx="7082790" cy="172402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题目F.出厂校准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第一，四维约束的理解。要同时满足四种元素(Li,Co,Ni,Mn)的最低需求，状态设计复杂。</a:t>
            </a:r>
            <a:endParaRPr sz="1600"/>
          </a:p>
          <a:p>
            <a:r>
              <a:rPr sz="1600"/>
              <a:t>第二，0-1背包的应用。每条产线只能选或不选，不能选部分。</a:t>
            </a:r>
            <a:endParaRPr sz="1600"/>
          </a:p>
          <a:p>
            <a:r>
              <a:rPr sz="1600"/>
              <a:t>第三，状态设计。dp[a][b][c][d]表示四种元素分别累计a,b,c,d时的最小花费。</a:t>
            </a:r>
            <a:endParaRPr sz="1600"/>
          </a:p>
          <a:p>
            <a:r>
              <a:rPr sz="1600"/>
              <a:t>第四，截断优化。超过30的部分截断为30，因为需求最大30，避免数组过大。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第一步：四维0-1背包DP——dp[a][b][c][d]表示四种元素分别累计a,b,c,d时的最小花费。</a:t>
            </a:r>
            <a:endParaRPr sz="1600"/>
          </a:p>
          <a:p>
            <a:r>
              <a:rPr sz="1600"/>
              <a:t>第二步：初始化——所有状态设为INF，dp[0][0][0][0]=0。</a:t>
            </a:r>
            <a:endParaRPr sz="1600"/>
          </a:p>
          <a:p>
            <a:r>
              <a:rPr sz="1600"/>
              <a:t>第三步：逐个产线更新——逆序遍历保证每条产线只选一次。</a:t>
            </a:r>
            <a:endParaRPr sz="1600"/>
          </a:p>
          <a:p>
            <a:r>
              <a:rPr sz="1600"/>
              <a:t>第四步：状态转移——选这条产线，四种元素分别增加，超过30截断为30。</a:t>
            </a:r>
            <a:endParaRPr sz="1600"/>
          </a:p>
          <a:p>
            <a:r>
              <a:rPr sz="1600"/>
              <a:t>第五步：答案——在所有满足需求的状态中找最小花费。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755" y="1802130"/>
            <a:ext cx="6033770" cy="43345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时间复杂度方面，有m条产线，每条产线更新31^4个状态，总时间复杂度O(m*31^4)。</a:t>
            </a:r>
            <a:endParaRPr sz="1600"/>
          </a:p>
          <a:p>
            <a:r>
              <a:rPr sz="1600"/>
              <a:t>空间复杂度方面，DP表大小31^4，空间复杂度O(31^4)。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使用min函数在状态转移时取最小花费。</a:t>
            </a:r>
            <a:endParaRPr sz="1600"/>
          </a:p>
          <a:p>
            <a:r>
              <a:rPr sz="1600"/>
              <a:t>使用C++原生二维数组模拟四维，访问快。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输入：5 5 5 5  3  5 5 5 5 100  10 0 0 0 50  0 10 0 0 50</a:t>
            </a:r>
            <a:endParaRPr sz="1600"/>
          </a:p>
          <a:p>
            <a:r>
              <a:rPr sz="1600"/>
              <a:t>输出：100</a:t>
            </a:r>
            <a:endParaRPr sz="1600"/>
          </a:p>
          <a:p>
            <a:r>
              <a:rPr sz="1600"/>
              <a:t>解释：选第一条产线（花费100），四种各5，刚好满足需求5 5 5 5。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3284855"/>
            <a:ext cx="7239000" cy="192024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题目G.服务划分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第一，多源最短路径的理解。每个节点归属距离最近的服务中心，距离相同则编号小的优先。</a:t>
            </a:r>
            <a:endParaRPr sz="1600"/>
          </a:p>
          <a:p>
            <a:r>
              <a:rPr sz="1600"/>
              <a:t>第二，动态查询的处理。支持修改节点需求、修改边权、查询三种操作。</a:t>
            </a:r>
            <a:endParaRPr sz="1600"/>
          </a:p>
          <a:p>
            <a:r>
              <a:rPr sz="1600"/>
              <a:t>第三，树结构的处理。n个节点n-1条边的无向连通图。</a:t>
            </a:r>
            <a:endParaRPr sz="1600"/>
          </a:p>
          <a:p>
            <a:r>
              <a:rPr sz="1600"/>
              <a:t>第四，服务总量统计。查询时要统计每个服务中心管辖的所有节点需求量之和。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第一步：多源Dijkstra——把所有服务中心同时放进优先队列，距离为0。</a:t>
            </a:r>
            <a:endParaRPr sz="1600"/>
          </a:p>
          <a:p>
            <a:r>
              <a:rPr sz="1600"/>
              <a:t>第二步：跑Dijkstra——每个节点记录到最近服务中心的距离和归属。</a:t>
            </a:r>
            <a:endParaRPr sz="1600"/>
          </a:p>
          <a:p>
            <a:r>
              <a:rPr sz="1600"/>
              <a:t>第三步：距离相同时——编号小的服务中心优先。</a:t>
            </a:r>
            <a:endParaRPr sz="1600"/>
          </a:p>
          <a:p>
            <a:r>
              <a:rPr sz="1600"/>
              <a:t>第四步：统计答案——遍历所有节点，累加到对应服务中心的总需求。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20" y="1921510"/>
            <a:ext cx="6450965" cy="419036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时间复杂度方面，每次查询需要重新跑Dijkstra，O((n+m)log n)，共q次查询，总时间复杂度O(q*(n+m)log n)。</a:t>
            </a:r>
            <a:endParaRPr sz="1600"/>
          </a:p>
          <a:p>
            <a:r>
              <a:rPr sz="1600"/>
              <a:t>空间复杂度方面，邻接表存图O(n+m)，距离和归属数组O(n)，总空间复杂度O(n+m)。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使用vector&lt;vector&lt;Edge&gt;&gt;邻接表存图。</a:t>
            </a:r>
            <a:endParaRPr sz="1600"/>
          </a:p>
          <a:p>
            <a:r>
              <a:rPr sz="1600"/>
              <a:t>使用priority_queue实现Dijkstra，距离小的优先。</a:t>
            </a:r>
            <a:endParaRPr sz="1600"/>
          </a:p>
          <a:p>
            <a:r>
              <a:rPr sz="1600"/>
              <a:t>使用pair&lt;long long, int&gt;存储&lt;距离, 节点&gt;。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输入：3  1 2 3  1 2 1  2 3 2  1  3 2 1 3</a:t>
            </a:r>
            <a:endParaRPr sz="1600"/>
          </a:p>
          <a:p>
            <a:r>
              <a:rPr sz="1600"/>
              <a:t>输出：3 3</a:t>
            </a:r>
            <a:endParaRPr sz="1600"/>
          </a:p>
          <a:p>
            <a:r>
              <a:rPr sz="1600"/>
              <a:t>解释：服务中心是1和3。节点1、2归中心1（需求1+2=3），节点3归中心3（需求3）</a:t>
            </a:r>
            <a:endParaRPr sz="1600"/>
          </a:p>
          <a:p>
            <a:r>
              <a:rPr sz="1600"/>
              <a:t>。</a:t>
            </a:r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2996565"/>
            <a:ext cx="7071360" cy="23241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题目H.电池续航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第一，路径定义的理解。从s出发恰好走K步，到每个节点的所有路径中，路径上最大边权最小是多少。</a:t>
            </a:r>
            <a:endParaRPr sz="1600"/>
          </a:p>
          <a:p>
            <a:r>
              <a:rPr sz="1600"/>
              <a:t>第二，min-max矩阵乘法。普通矩阵乘法是sum，这里是min over k of max(A[i][k], B[k][j])。</a:t>
            </a:r>
            <a:endParaRPr sz="1600"/>
          </a:p>
          <a:p>
            <a:r>
              <a:rPr sz="1600"/>
              <a:t>第三，倍增思想。走a步再走b步=走a+b步，路径最大边权取两段中较大的，再取所有中间点的最小值。</a:t>
            </a:r>
            <a:endParaRPr sz="1600"/>
          </a:p>
          <a:p>
            <a:r>
              <a:rPr sz="1600"/>
              <a:t>第四，二进制拆分。把K拆成二进制，逐位合并走2^p步的矩阵。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第一步：min-max矩阵乘法——C[i][j] = min over k of max(A[i][k], B[k][j])。</a:t>
            </a:r>
            <a:endParaRPr sz="1600"/>
          </a:p>
          <a:p>
            <a:r>
              <a:rPr sz="1600"/>
              <a:t>第二步：倍增预处理——pw[p] = 走2^p步的矩阵。</a:t>
            </a:r>
            <a:endParaRPr sz="1600"/>
          </a:p>
          <a:p>
            <a:r>
              <a:rPr sz="1600"/>
              <a:t>第三步：二进制拆分——把K拆成二进制，逐位合并。</a:t>
            </a:r>
            <a:endParaRPr sz="1600"/>
          </a:p>
          <a:p>
            <a:r>
              <a:rPr sz="1600"/>
              <a:t>第四步：向量乘矩阵——cur向量表示当前状态下到各节点的最小最大边权。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1873885"/>
            <a:ext cx="6066155" cy="426910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时间复杂度方面，矩阵乘法O(n^3)，倍增log K次，总时间复杂度O(n^3 log K)。</a:t>
            </a:r>
            <a:endParaRPr sz="1600"/>
          </a:p>
          <a:p>
            <a:r>
              <a:rPr sz="1600"/>
              <a:t>空间复杂度方面，存储log K个矩阵，每个n^2，空间复杂度O(n^2 log K)。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使用vector&lt;Matrix&gt;存储倍增的矩阵序列。</a:t>
            </a:r>
            <a:endParaRPr sz="1600"/>
          </a:p>
          <a:p>
            <a:r>
              <a:rPr sz="1600"/>
              <a:t>使用max/min函数实现矩阵乘法中的min-max运算。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输入：3 3  1 2 5  2 3 3  1 3 10  1  1 2</a:t>
            </a:r>
            <a:endParaRPr sz="1600"/>
          </a:p>
          <a:p>
            <a:r>
              <a:rPr sz="1600"/>
              <a:t>输出：-1 -1 5</a:t>
            </a:r>
            <a:endParaRPr sz="1600"/>
          </a:p>
          <a:p>
            <a:r>
              <a:rPr sz="1600"/>
              <a:t>解释：从1走2步。到1：走不到(-1)；到2：走不到(-1)；到3：1-&gt;2-&gt;3，max(5,3)=5。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3644900"/>
            <a:ext cx="3176270" cy="182118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题目I.电池健康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第一，优先策略的理解。取用时优先取循环次数少的，相同则入库早的优先。</a:t>
            </a:r>
            <a:endParaRPr sz="1600"/>
          </a:p>
          <a:p>
            <a:r>
              <a:rPr sz="1600"/>
              <a:t>第二，延迟删除机制。优先队列里的记录可能过时（电池已被取走或归还过），取出时要检查有效性。</a:t>
            </a:r>
            <a:endParaRPr sz="1600"/>
          </a:p>
          <a:p>
            <a:r>
              <a:rPr sz="1600"/>
              <a:t>第三，状态维护。需要维护每个电池的循环次数、是否在仓库、是否在使用中。</a:t>
            </a:r>
            <a:endParaRPr sz="1600"/>
          </a:p>
          <a:p>
            <a:r>
              <a:rPr sz="1600"/>
              <a:t>第四，报废机制。归还时循环次数+1，达到K次则报废不入库。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第一步：优先队列维护仓库——按(循环次数, 入库时间)排序，循环少的优先。</a:t>
            </a:r>
            <a:endParaRPr sz="1600"/>
          </a:p>
          <a:p>
            <a:r>
              <a:rPr sz="1600"/>
              <a:t>第二步：买进操作——新电池循环0，入库时间递增。</a:t>
            </a:r>
            <a:endParaRPr sz="1600"/>
          </a:p>
          <a:p>
            <a:r>
              <a:rPr sz="1600"/>
              <a:t>第三步：取用操作——从优先队列找第一个有效的（在仓库且循环次数匹配）。</a:t>
            </a:r>
            <a:endParaRPr sz="1600"/>
          </a:p>
          <a:p>
            <a:r>
              <a:rPr sz="1600"/>
              <a:t>第四步：归还操作——循环+1，达到K报废，否则重新入库。</a:t>
            </a:r>
            <a:endParaRPr sz="1600"/>
          </a:p>
          <a:p>
            <a:r>
              <a:rPr sz="1600"/>
              <a:t>第五步：查询操作——遍历map统计在仓库的数量。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831975"/>
            <a:ext cx="5946140" cy="436753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时间复杂度方面，每个操作涉及优先队列的push/pop，O(log q)，共q个操作，总时间复杂度O(q log q)。</a:t>
            </a:r>
            <a:endParaRPr sz="1600"/>
          </a:p>
          <a:p>
            <a:r>
              <a:rPr sz="1600"/>
              <a:t>空间复杂度方面，优先队列和map最多存储q个条目，空间复杂度O(q)。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使用priority_queue&lt;Battery&gt;小根堆，循环少的优先。</a:t>
            </a:r>
            <a:endParaRPr sz="1600"/>
          </a:p>
          <a:p>
            <a:r>
              <a:rPr sz="1600"/>
              <a:t>使用map&lt;string, int&gt;记录每个电池的循环次数。</a:t>
            </a:r>
            <a:endParaRPr sz="1600"/>
          </a:p>
          <a:p>
            <a:r>
              <a:rPr sz="1600"/>
              <a:t>使用map&lt;string, bool&gt;记录是否在仓库/使用中。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输入：6 2  1 A  1 B  2  3 A  2  4</a:t>
            </a:r>
            <a:endParaRPr sz="1600"/>
          </a:p>
          <a:p>
            <a:r>
              <a:rPr sz="1600"/>
              <a:t>输出：A  B  1</a:t>
            </a:r>
            <a:endParaRPr sz="1600"/>
          </a:p>
          <a:p>
            <a:r>
              <a:rPr sz="1600"/>
              <a:t>解释：买进A和B；取用A（循环0最早）；归还A循环变1；取用B（B循环0&lt;A循环1）；库存剩A共1个。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065" y="3429000"/>
            <a:ext cx="5577840" cy="229362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4" name="内容占位符 2"/>
          <p:cNvSpPr>
            <a:spLocks noGrp="1"/>
          </p:cNvSpPr>
          <p:nvPr>
            <p:ph idx="1"/>
          </p:nvPr>
        </p:nvSpPr>
        <p:spPr>
          <a:xfrm>
            <a:off x="539750" y="1231900"/>
            <a:ext cx="8207375" cy="4394835"/>
          </a:xfrm>
        </p:spPr>
        <p:txBody>
          <a:bodyPr/>
          <a:p>
            <a:r>
              <a:rPr lang="zh-CN" altLang="en-US" sz="2400" dirty="0"/>
              <a:t>题目J.生产优化</a:t>
            </a:r>
            <a:endParaRPr lang="en-US" altLang="zh-CN" sz="2400" dirty="0"/>
          </a:p>
          <a:p>
            <a:r>
              <a:rPr lang="zh-CN" altLang="en-US" sz="2400" dirty="0"/>
              <a:t>题目难点分析</a:t>
            </a:r>
            <a:endParaRPr lang="en-US" altLang="zh-CN" sz="2400" dirty="0"/>
          </a:p>
          <a:p>
            <a:r>
              <a:rPr sz="1600"/>
              <a:t>第一，DAG结构的理解。有向无环图，节点编号就是拓扑序。</a:t>
            </a:r>
            <a:endParaRPr sz="1600"/>
          </a:p>
          <a:p>
            <a:r>
              <a:rPr sz="1600"/>
              <a:t>第二，双重决策。每条边可以优化或不优化，最多优化K条。</a:t>
            </a:r>
            <a:endParaRPr sz="1600"/>
          </a:p>
          <a:p>
            <a:r>
              <a:rPr sz="1600"/>
              <a:t>第三，状态设计。dp[u][j]表示到达节点u，已经用了j次优化的最短路径。</a:t>
            </a:r>
            <a:endParaRPr sz="1600"/>
          </a:p>
          <a:p>
            <a:r>
              <a:rPr sz="1600"/>
              <a:t>第四，状态转移。对每条边有两种选择——不优化（用w）或优化（用c，j+1）。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解题思路</a:t>
            </a:r>
            <a:endParaRPr lang="zh-CN" altLang="en-US" sz="2400"/>
          </a:p>
          <a:p>
            <a:r>
              <a:rPr sz="1600"/>
              <a:t>第一步：DAG上DP——dp[u][j] = 到达节点u用了j次优化的最短路径。</a:t>
            </a:r>
            <a:endParaRPr sz="1600"/>
          </a:p>
          <a:p>
            <a:r>
              <a:rPr sz="1600"/>
              <a:t>第二步：初始化——dp[0][0]=0，其他为INF。</a:t>
            </a:r>
            <a:endParaRPr sz="1600"/>
          </a:p>
          <a:p>
            <a:r>
              <a:rPr sz="1600"/>
              <a:t>第三步：按拓扑序遍历——节点编号从小到大。</a:t>
            </a:r>
            <a:endParaRPr sz="1600"/>
          </a:p>
          <a:p>
            <a:r>
              <a:rPr sz="1600"/>
              <a:t>第四步：状态转移——不优化则dp[v][j]=min(dp[v][j], dp[u][j]+w)，优化则dp[v][j+1]=min(dp[v][j+1], dp[u][j]+c)。</a:t>
            </a:r>
            <a:endParaRPr sz="1600"/>
          </a:p>
          <a:p>
            <a:r>
              <a:rPr sz="1600"/>
              <a:t>第五步：答案——在dp[n-1][0..K]中取最小值。</a:t>
            </a:r>
            <a:endParaRPr sz="1600"/>
          </a:p>
        </p:txBody>
      </p:sp>
    </p:spTree>
  </p:cSld>
  <p:clrMapOvr>
    <a:masterClrMapping/>
  </p:clrMapOvr>
  <p:transition spd="med"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算法流程图 / 逻辑设计</a:t>
            </a:r>
            <a:endParaRPr lang="zh-CN" altLang="en-US" sz="2400" dirty="0"/>
          </a:p>
          <a:p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15" y="1874520"/>
            <a:ext cx="6601460" cy="43434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复杂度分析</a:t>
            </a:r>
            <a:endParaRPr lang="zh-CN" altLang="en-US" sz="2400"/>
          </a:p>
          <a:p>
            <a:r>
              <a:rPr sz="1600"/>
              <a:t>时间复杂度方面，遍历m条边，每条边更新K+1个状态，总时间复杂度O(m*K)。</a:t>
            </a:r>
            <a:endParaRPr sz="1600"/>
          </a:p>
          <a:p>
            <a:r>
              <a:rPr sz="1600"/>
              <a:t>空间复杂度方面，DP表大小n*(K+1)，空间复杂度O(n*K)。</a:t>
            </a:r>
            <a:endParaRPr sz="1600"/>
          </a:p>
        </p:txBody>
      </p:sp>
      <p:graphicFrame>
        <p:nvGraphicFramePr>
          <p:cNvPr id="4194305" name="表格 4"/>
          <p:cNvGraphicFramePr/>
          <p:nvPr/>
        </p:nvGraphicFramePr>
        <p:xfrm>
          <a:off x="906145" y="4377690"/>
          <a:ext cx="7177405" cy="14020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时间复杂度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O(nlogn)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每个元素插入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一次，每次</a:t>
                      </a:r>
                      <a:r>
                        <a:rPr lang="en-US" altLang="zh-CN" sz="1600"/>
                        <a:t>O(logn)</a:t>
                      </a:r>
                      <a:endParaRPr lang="en-US" altLang="zh-CN" sz="1600"/>
                    </a:p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空间复杂度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O(n)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最多存在</a:t>
                      </a:r>
                      <a:r>
                        <a:rPr lang="en-US" altLang="zh-CN" sz="1600"/>
                        <a:t>n</a:t>
                      </a:r>
                      <a:r>
                        <a:rPr lang="zh-CN" altLang="en-US" sz="1600"/>
                        <a:t>个不同的键值对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/>
              <a:t>使用的 STL 容器和算法</a:t>
            </a:r>
            <a:endParaRPr lang="zh-CN" altLang="en-US" sz="2400"/>
          </a:p>
          <a:p>
            <a:r>
              <a:rPr sz="1600"/>
              <a:t>使用vector&lt;vector&lt;Edge&gt;&gt;邻接表存图。</a:t>
            </a:r>
            <a:endParaRPr sz="1600"/>
          </a:p>
          <a:p>
            <a:r>
              <a:rPr sz="1600"/>
              <a:t>使用vector&lt;vector&lt;long long&gt;&gt;二维DP表。</a:t>
            </a:r>
            <a:endParaRPr sz="1600"/>
          </a:p>
          <a:p>
            <a:r>
              <a:rPr sz="1600"/>
              <a:t>使用min函数在状态转移时取最小值。</a:t>
            </a:r>
            <a:endParaRPr sz="1600"/>
          </a:p>
        </p:txBody>
      </p:sp>
      <p:graphicFrame>
        <p:nvGraphicFramePr>
          <p:cNvPr id="4194306" name="表格 4"/>
          <p:cNvGraphicFramePr/>
          <p:nvPr/>
        </p:nvGraphicFramePr>
        <p:xfrm>
          <a:off x="929640" y="4598670"/>
          <a:ext cx="7177405" cy="9601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204720"/>
                <a:gridCol w="2204085"/>
                <a:gridCol w="2768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map&lt;int,int&gt;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统计每个值出现的频率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</a:t>
                      </a:r>
                      <a:r>
                        <a:rPr lang="zh-CN" altLang="en-US" sz="1600"/>
                        <a:t>可以是任意整数（值最大</a:t>
                      </a:r>
                      <a:r>
                        <a:rPr lang="en-US" altLang="zh-CN" sz="1600"/>
                        <a:t>10^9</a:t>
                      </a:r>
                      <a:r>
                        <a:rPr lang="zh-CN" altLang="en-US" sz="1600"/>
                        <a:t>），</a:t>
                      </a:r>
                      <a:r>
                        <a:rPr lang="zh-CN" altLang="en-US" sz="1600"/>
                        <a:t>自动排序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auto&amp; p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遍历</a:t>
                      </a:r>
                      <a:r>
                        <a:rPr lang="en-US" altLang="zh-CN" sz="1600"/>
                        <a:t>map</a:t>
                      </a:r>
                      <a:r>
                        <a:rPr lang="zh-CN" altLang="en-US" sz="1600"/>
                        <a:t>键值对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C++</a:t>
                      </a:r>
                      <a:r>
                        <a:rPr lang="zh-CN" altLang="en-US" sz="1600"/>
                        <a:t>范围</a:t>
                      </a:r>
                      <a:r>
                        <a:rPr lang="en-US" altLang="zh-CN" sz="1600"/>
                        <a:t>for</a:t>
                      </a:r>
                      <a:r>
                        <a:rPr lang="zh-CN" altLang="en-US" sz="1600"/>
                        <a:t>循环，</a:t>
                      </a:r>
                      <a:r>
                        <a:rPr lang="zh-CN" altLang="en-US" sz="1600"/>
                        <a:t>简洁易读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6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dirty="0"/>
              <a:t>测试数据介绍</a:t>
            </a:r>
            <a:endParaRPr lang="en-US" altLang="zh-CN" sz="2400" dirty="0"/>
          </a:p>
          <a:p>
            <a:r>
              <a:rPr sz="1600"/>
              <a:t>输入：3 2 2  1 2 10 5  2 3 10 5</a:t>
            </a:r>
            <a:endParaRPr sz="1600"/>
          </a:p>
          <a:p>
            <a:r>
              <a:rPr sz="1600"/>
              <a:t>输出：10</a:t>
            </a:r>
            <a:endParaRPr sz="1600"/>
          </a:p>
          <a:p>
            <a:r>
              <a:rPr sz="1600"/>
              <a:t>解释：路径1-&gt;2-&gt;3，两条边都优化，5+5=10。</a:t>
            </a:r>
            <a:endParaRPr sz="1600"/>
          </a:p>
          <a:p>
            <a:endParaRPr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212465"/>
            <a:ext cx="4071620" cy="187769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计算机与信息学院本科毕业设计开题汇报">
  <a:themeElements>
    <a:clrScheme name="zd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zdy">
      <a:majorFont>
        <a:latin typeface="Verdana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lnDef>
  </a:objectDefaults>
  <a:extraClrSchemeLst>
    <a:extraClrScheme>
      <a:clrScheme name="zd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d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8045</Words>
  <Application>WPS 演示</Application>
  <PresentationFormat/>
  <Paragraphs>596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4" baseType="lpstr">
      <vt:lpstr>Arial</vt:lpstr>
      <vt:lpstr>宋体</vt:lpstr>
      <vt:lpstr>Wingdings</vt:lpstr>
      <vt:lpstr>Times New Roman</vt:lpstr>
      <vt:lpstr>华文新魏</vt:lpstr>
      <vt:lpstr>Verdana</vt:lpstr>
      <vt:lpstr>黑体</vt:lpstr>
      <vt:lpstr>微软雅黑</vt:lpstr>
      <vt:lpstr>Arial Unicode MS</vt:lpstr>
      <vt:lpstr>楷体_GB2312</vt:lpstr>
      <vt:lpstr>新宋体</vt:lpstr>
      <vt:lpstr>计算机与信息学院本科毕业设计开题汇报</vt:lpstr>
      <vt:lpstr>——程序设计艺术与方法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——程序设计艺术与方法 </dc:title>
  <dc:creator>王伟</dc:creator>
  <cp:lastModifiedBy>步凡</cp:lastModifiedBy>
  <cp:revision>3</cp:revision>
  <dcterms:created xsi:type="dcterms:W3CDTF">2026-07-08T06:06:00Z</dcterms:created>
  <dcterms:modified xsi:type="dcterms:W3CDTF">2026-07-17T12:02:42Z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6429EA8BE94649169E8BF5F262C73FBA_13</vt:lpwstr>
  </property>
</Properties>
</file>